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Manrope SemiBold"/>
      <p:regular r:id="rId22"/>
      <p:bold r:id="rId23"/>
    </p:embeddedFont>
    <p:embeddedFont>
      <p:font typeface="Manrope"/>
      <p:regular r:id="rId24"/>
      <p:bold r:id="rId25"/>
    </p:embeddedFont>
    <p:embeddedFont>
      <p:font typeface="Manrope Medium"/>
      <p:regular r:id="rId26"/>
      <p:bold r:id="rId27"/>
    </p:embeddedFont>
    <p:embeddedFont>
      <p:font typeface="IBM Plex Mono"/>
      <p:regular r:id="rId28"/>
      <p:bold r:id="rId29"/>
      <p:italic r:id="rId30"/>
      <p:boldItalic r:id="rId31"/>
    </p:embeddedFont>
    <p:embeddedFont>
      <p:font typeface="Space Grotesk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italic.fntdata"/><Relationship Id="rId22" Type="http://schemas.openxmlformats.org/officeDocument/2006/relationships/font" Target="fonts/Manrope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Manrope-regular.fntdata"/><Relationship Id="rId23" Type="http://schemas.openxmlformats.org/officeDocument/2006/relationships/font" Target="fonts/Manrope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Medium-regular.fntdata"/><Relationship Id="rId25" Type="http://schemas.openxmlformats.org/officeDocument/2006/relationships/font" Target="fonts/Manrope-bold.fntdata"/><Relationship Id="rId28" Type="http://schemas.openxmlformats.org/officeDocument/2006/relationships/font" Target="fonts/IBMPlexMono-regular.fntdata"/><Relationship Id="rId27" Type="http://schemas.openxmlformats.org/officeDocument/2006/relationships/font" Target="fonts/Manrope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Mono-boldItalic.fntdata"/><Relationship Id="rId30" Type="http://schemas.openxmlformats.org/officeDocument/2006/relationships/font" Target="fonts/IBMPlex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69fdcc520_1_1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- Това е Boza — framework-тип game engine, разработен на C++23.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В презентацията ще покажа как е организиран проектът, как протича изпълнението на един кадър и как работят основните подсистеми.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След това ще мина през rendering pipeline-а, ресурсите и кратко демо.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69fdcc520_1_3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Отличителното при Boza е, че е лек framework-тип engine, а не тежка all-in-one среда.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Идеята е да има възможно най-малко излишен bloat и архитектурата да е ясна и контролируема.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Подсистемите са разделени чисто — input, ECS, scene management, rendering, ресурси.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Rendering-ът е Vulkan-first, но е организиран през собствен RHI слой.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Целта на проекта е не просто да рендерира нещо, а да покаже добре структурирана engine архитектура.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9fdcc520_1_4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Изискванията за дипломната ми работа и съответно главните функционалности са тези.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На първо място — rendering система върху собствен RHI слой с Vulkan имплементация.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След това — материали, ресурси и механизъм за зареждане и управление на данни към GPU.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Нужни са също game loop, scene management и ECS-базиран execution модел за управляване на игровата логика.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И накрая — прозорци, input и модерен C++ build/dependency workflow.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69fdcc520_1_7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boza/public export-ва публичния API на engine-а — това е частта, която използва потребителят.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boza/src съдържа имплементацията и вътрешната логика — platform layer, RHI и backend-и.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examples съдържа примерни приложения, които показват как се използва engine-ът.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В assets има дефиниции на материали и семплери в JSON формат, както и текстури, които engine-ът намира и зарежда.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В shaders са shader-ите, които се използват от материали и compute dispatcher-и.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Те минават през shader_processor, който ги компилира и генерира метаданни чрез reflection, така че engine-ът да знае какви буфери, текстури, push constants и други ресурси очакват.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Така целият workflow е свързан — assets, shaders и tooling не са отделни части, а работят заедно.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9fdcc520_1_9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Това е общият поток на изпълнение за един кадър.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Всеки frame започва с обновяване на времето — Time::update().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След това основното изпълнение минава през world.progress(delta_time), където ECS системите се изпълняват по фази.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Тези фази позволяват логиката да е организирана предвидимо — например update, pre-render и render.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Накрая се прави cleanup на разрушени обекти и такива неща и се преминава към следващия кадър.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Така game loop-ът е прост като идея, но вътрешно е структуриран чрез ECS phase execution.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9fdcc520_1_14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Тук идеята е разделението между структура, данни и поведение.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Scene hierarchy пази parent-child структурата на обектите в сцената.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Компонентите пазят данните — например Transform, Camera, MeshRenderer или custom компоненти.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Системите работят върху тези компоненти и изпълняват логиката по различни фази.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Това прави engine-а по-разширяем и по-лесен за организиране в сравнение с monolithic object logic.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Тоест сцената казва какво съществува, компонентите казват какви данни има, а системите казват какво се случва.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69fdcc520_1_11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Тук е показан пътят от scene данните до реалното подаване на draw calls към GPU.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Първо се събират входните данни от сцената — camera, transform и renderer компонентите.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След това render cache-ът се синхронизира при промени в mesh-ове и материали.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След началото на кадъра се подготвят command buffer-и и render pass.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После се правят visibility проверка и batching, за да се подготви по-ефективно подаването към GPU.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Накрая се извършват draw call-ите и present.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Важното тук е, че rendering-ът е организиран като pipeline, а не като директно рисуване от scene обектите.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69fdcc520_1_12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Този слайд е за начина, по който engine-ът описва GPU ресурси и ги свързва към shader-ите.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Материалът в Boza не е просто цвят или текстура, а обект, който описва shader-и, render state и shader параметри.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Ресурсите включват текстури, буфери и семплери, които се създават, кешират и подават към GPU.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Чрез генерираните shader metadata engine-ът знае какви bindings и push constants очаква всеки shader.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Това позволява материалите и compute задачите да се конфигурират по-автоматизирано, вместо всичко да се описва ръчно в кода.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Така се свързват assets, shader-и и runtime execution.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69fdcc520_1_22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Основният език е C++23, като важна част от архитектурата са и C++ modules.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За rendering backend се използва Vulkan.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flecs се използва за ECS execution модела.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vcpkg управлява външните зависимости, а CMake build процеса.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Тоест стекът е подбран така, че да поддържа модулна и сравнително модерна engine архитектура.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69fdcc520_1_25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69fdcc520_1_26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Текущата архитектура е направена така, че да позволява естествено надграждане.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Една посока е по-конфигурируем rendering pipeline - т.е. </a:t>
            </a:r>
            <a:r>
              <a:rPr lang="en-GB"/>
              <a:t>д</a:t>
            </a:r>
            <a:r>
              <a:rPr lang="en-GB"/>
              <a:t>а може потребителят да дефинира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Друга е интеграция на physics и audio системи.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Също важна функционалност по която даже работя вмомента е serialization на сцени и префаби.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- И накрая — editor и допълнителни tools, които да направят workflow-а по-удобен.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- Тоест проектът е добра основа за развитие, а не просто еднократен prototype.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69fdcc520_1_28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ab7fed06_14_0)">
  <p:cSld name="Generated (g3d6ab7fed06_14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/>
        </p:nvSpPr>
        <p:spPr>
          <a:xfrm>
            <a:off x="762000" y="1143000"/>
            <a:ext cx="47625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660">
                <a:solidFill>
                  <a:srgbClr val="F5FA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Boza</a:t>
            </a:r>
            <a:endParaRPr b="1" sz="6660">
              <a:solidFill>
                <a:srgbClr val="F5FA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Google Shape;55;p14"/>
          <p:cNvSpPr txBox="1"/>
          <p:nvPr/>
        </p:nvSpPr>
        <p:spPr>
          <a:xfrm>
            <a:off x="762000" y="2286000"/>
            <a:ext cx="476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50">
                <a:solidFill>
                  <a:srgbClr val="35D6F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Модулен game engine на C++23 с Vulkan</a:t>
            </a:r>
            <a:endParaRPr b="0" sz="1850">
              <a:solidFill>
                <a:srgbClr val="35D6FF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762000" y="2857500"/>
            <a:ext cx="1714500" cy="362100"/>
            <a:chOff x="762000" y="2857500"/>
            <a:chExt cx="1714500" cy="362100"/>
          </a:xfrm>
        </p:grpSpPr>
        <p:sp>
          <p:nvSpPr>
            <p:cNvPr id="57" name="Google Shape;57;p14"/>
            <p:cNvSpPr/>
            <p:nvPr/>
          </p:nvSpPr>
          <p:spPr>
            <a:xfrm>
              <a:off x="762000" y="28575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762000" y="2857500"/>
              <a:ext cx="17145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27C7A7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Дипломна работа</a:t>
              </a:r>
              <a:endParaRPr b="0" sz="1200">
                <a:solidFill>
                  <a:srgbClr val="27C7A7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762000" y="4524375"/>
            <a:ext cx="3810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Михаил Георгиев</a:t>
            </a:r>
            <a:endParaRPr b="0" sz="120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8382000" y="4524375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b="0"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571500" y="381000"/>
            <a:ext cx="4762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Какво е Boza?</a:t>
            </a:r>
            <a:endParaRPr b="1" sz="36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571500" y="1333500"/>
            <a:ext cx="2571900" cy="1905000"/>
            <a:chOff x="571500" y="1333500"/>
            <a:chExt cx="2571900" cy="1905000"/>
          </a:xfrm>
        </p:grpSpPr>
        <p:sp>
          <p:nvSpPr>
            <p:cNvPr id="67" name="Google Shape;67;p15"/>
            <p:cNvSpPr/>
            <p:nvPr/>
          </p:nvSpPr>
          <p:spPr>
            <a:xfrm>
              <a:off x="571500" y="133350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111E2E">
                <a:alpha val="90000"/>
              </a:srgbClr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7620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view_quilt</a:t>
              </a:r>
              <a:endParaRPr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762000" y="2000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Модулност</a:t>
              </a:r>
              <a:endParaRPr b="1" sz="18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Лек и ясно структуриран engine prototype с разделени подсистеми.</a:t>
              </a:r>
              <a:endParaRPr b="0" sz="12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3286125" y="1333500"/>
            <a:ext cx="2571900" cy="1905000"/>
            <a:chOff x="3286125" y="1333500"/>
            <a:chExt cx="2571900" cy="1905000"/>
          </a:xfrm>
        </p:grpSpPr>
        <p:sp>
          <p:nvSpPr>
            <p:cNvPr id="71" name="Google Shape;71;p15"/>
            <p:cNvSpPr/>
            <p:nvPr/>
          </p:nvSpPr>
          <p:spPr>
            <a:xfrm>
              <a:off x="3286125" y="133350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111E2E">
                <a:alpha val="90000"/>
              </a:srgbClr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476625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3476625" y="2000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Рендериране</a:t>
              </a:r>
              <a:endParaRPr b="1" sz="18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Vulkan-first rendering чрез собствен RHI слой.</a:t>
              </a:r>
              <a:endParaRPr b="0" sz="12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6000750" y="1333500"/>
            <a:ext cx="2571900" cy="1905000"/>
            <a:chOff x="6000750" y="1333500"/>
            <a:chExt cx="2571900" cy="1905000"/>
          </a:xfrm>
        </p:grpSpPr>
        <p:sp>
          <p:nvSpPr>
            <p:cNvPr id="75" name="Google Shape;75;p15"/>
            <p:cNvSpPr/>
            <p:nvPr/>
          </p:nvSpPr>
          <p:spPr>
            <a:xfrm>
              <a:off x="6000750" y="1333500"/>
              <a:ext cx="2571900" cy="1905000"/>
            </a:xfrm>
            <a:prstGeom prst="roundRect">
              <a:avLst>
                <a:gd fmla="val 6000" name="adj"/>
              </a:avLst>
            </a:prstGeom>
            <a:solidFill>
              <a:srgbClr val="111E2E">
                <a:alpha val="90000"/>
              </a:srgbClr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619125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6191250" y="2000250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Разширяемост</a:t>
              </a:r>
              <a:endParaRPr b="1" sz="18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Архитектура, подготвена за бъдещо надграждане.</a:t>
              </a:r>
              <a:endParaRPr b="0" sz="12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571500" y="3619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27C7A7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Проектът комбинира rendering, ECS, scene management, input, ресурси и build automation в една обща C++ архитектура.</a:t>
            </a:r>
            <a:endParaRPr b="0" sz="1400">
              <a:solidFill>
                <a:srgbClr val="27C7A7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001000" y="4524375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Основни изисквания</a:t>
            </a:r>
            <a:endParaRPr b="1" sz="32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571500" y="1190625"/>
            <a:ext cx="2571900" cy="1428900"/>
            <a:chOff x="571500" y="1190625"/>
            <a:chExt cx="2571900" cy="1428900"/>
          </a:xfrm>
        </p:grpSpPr>
        <p:sp>
          <p:nvSpPr>
            <p:cNvPr id="86" name="Google Shape;86;p16"/>
            <p:cNvSpPr/>
            <p:nvPr/>
          </p:nvSpPr>
          <p:spPr>
            <a:xfrm>
              <a:off x="571500" y="119062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714375" y="1368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714375" y="176212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RHI + Vulkan</a:t>
              </a:r>
              <a:endParaRPr b="1" sz="14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Rendering система върху RHI с Vulkan имплементация за graphics и compute.</a:t>
              </a:r>
              <a:endParaRPr b="0" sz="10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3286125" y="1190625"/>
            <a:ext cx="2571900" cy="1428900"/>
            <a:chOff x="3286125" y="1190625"/>
            <a:chExt cx="2571900" cy="1428900"/>
          </a:xfrm>
        </p:grpSpPr>
        <p:sp>
          <p:nvSpPr>
            <p:cNvPr id="90" name="Google Shape;90;p16"/>
            <p:cNvSpPr/>
            <p:nvPr/>
          </p:nvSpPr>
          <p:spPr>
            <a:xfrm>
              <a:off x="3286125" y="119062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3429000" y="1368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3429000" y="176212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Материали и ресурси</a:t>
              </a:r>
              <a:endParaRPr b="1" sz="14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Зареждане и управление на материали, текстури, семплери и буфери.</a:t>
              </a:r>
              <a:endParaRPr b="0" sz="10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6000750" y="1190625"/>
            <a:ext cx="2571900" cy="1428900"/>
            <a:chOff x="6000750" y="1190625"/>
            <a:chExt cx="2571900" cy="1428900"/>
          </a:xfrm>
        </p:grpSpPr>
        <p:sp>
          <p:nvSpPr>
            <p:cNvPr id="94" name="Google Shape;94;p16"/>
            <p:cNvSpPr/>
            <p:nvPr/>
          </p:nvSpPr>
          <p:spPr>
            <a:xfrm>
              <a:off x="6000750" y="119062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6143625" y="1368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</a:t>
              </a:r>
              <a:endParaRPr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6143625" y="176212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Game loop и сцени</a:t>
              </a:r>
              <a:endParaRPr b="1" sz="14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Core game loop, scene management и system-oriented логика за game objects.</a:t>
              </a:r>
              <a:endParaRPr b="0" sz="10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1928813" y="2809875"/>
            <a:ext cx="2571900" cy="1428900"/>
            <a:chOff x="1928813" y="2809875"/>
            <a:chExt cx="2571900" cy="1428900"/>
          </a:xfrm>
        </p:grpSpPr>
        <p:sp>
          <p:nvSpPr>
            <p:cNvPr id="98" name="Google Shape;98;p16"/>
            <p:cNvSpPr/>
            <p:nvPr/>
          </p:nvSpPr>
          <p:spPr>
            <a:xfrm>
              <a:off x="1928813" y="280987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2071688" y="2987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7C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web_asset</a:t>
              </a:r>
              <a:endParaRPr sz="2400">
                <a:solidFill>
                  <a:srgbClr val="27C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2071688" y="338137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Прозорци и input</a:t>
              </a:r>
              <a:endParaRPr b="1" sz="14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Създаване на прозорци и обработка на input събития.</a:t>
              </a:r>
              <a:endParaRPr b="0" sz="10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643438" y="2809875"/>
            <a:ext cx="2571900" cy="1428900"/>
            <a:chOff x="4643438" y="2809875"/>
            <a:chExt cx="2571900" cy="1428900"/>
          </a:xfrm>
        </p:grpSpPr>
        <p:sp>
          <p:nvSpPr>
            <p:cNvPr id="102" name="Google Shape;102;p16"/>
            <p:cNvSpPr/>
            <p:nvPr/>
          </p:nvSpPr>
          <p:spPr>
            <a:xfrm>
              <a:off x="4643438" y="2809875"/>
              <a:ext cx="25719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4786313" y="2987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27C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2400">
                <a:solidFill>
                  <a:srgbClr val="27C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4786313" y="3381375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Модерен C++ стек</a:t>
              </a:r>
              <a:endParaRPr b="1" sz="14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E0E6ED"/>
                  </a:solidFill>
                  <a:latin typeface="Manrope"/>
                  <a:ea typeface="Manrope"/>
                  <a:cs typeface="Manrope"/>
                  <a:sym typeface="Manrope"/>
                </a:rPr>
                <a:t>C++ modules и външни зависимости чрез vcpkg.</a:t>
              </a:r>
              <a:endParaRPr b="0" sz="1000">
                <a:solidFill>
                  <a:srgbClr val="E0E6ED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5" name="Google Shape;105;p16"/>
          <p:cNvSpPr txBox="1"/>
          <p:nvPr/>
        </p:nvSpPr>
        <p:spPr>
          <a:xfrm>
            <a:off x="8001000" y="4667250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71500" y="381000"/>
            <a:ext cx="476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5FAFF"/>
                </a:solidFill>
                <a:latin typeface="Space Grotesk"/>
                <a:ea typeface="Space Grotesk"/>
                <a:cs typeface="Space Grotesk"/>
                <a:sym typeface="Space Grotesk"/>
              </a:rPr>
              <a:t>Структура на проекта</a:t>
            </a:r>
            <a:endParaRPr b="1" sz="3200">
              <a:solidFill>
                <a:srgbClr val="F5FA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1566863"/>
            <a:ext cx="190500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1988" y="1824038"/>
            <a:ext cx="57300" cy="66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7"/>
          <p:cNvGrpSpPr/>
          <p:nvPr/>
        </p:nvGrpSpPr>
        <p:grpSpPr>
          <a:xfrm>
            <a:off x="571500" y="1143000"/>
            <a:ext cx="3905400" cy="1428900"/>
            <a:chOff x="571500" y="1143000"/>
            <a:chExt cx="3905400" cy="1428900"/>
          </a:xfrm>
        </p:grpSpPr>
        <p:sp>
          <p:nvSpPr>
            <p:cNvPr id="114" name="Google Shape;114;p17"/>
            <p:cNvSpPr/>
            <p:nvPr/>
          </p:nvSpPr>
          <p:spPr>
            <a:xfrm>
              <a:off x="571500" y="114300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14300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714375" y="1143000"/>
              <a:ext cx="3619500" cy="28500"/>
            </a:xfrm>
            <a:prstGeom prst="roundRect">
              <a:avLst>
                <a:gd fmla="val 50000" name="adj"/>
              </a:avLst>
            </a:prstGeom>
            <a:solidFill>
              <a:srgbClr val="35D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714375" y="1238250"/>
              <a:ext cx="36195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boza/public/ </a:t>
              </a:r>
              <a:r>
                <a:rPr b="0" lang="en-GB" sz="900">
                  <a:solidFill>
                    <a:srgbClr val="AAB7C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— Public API</a:t>
              </a:r>
              <a:endParaRPr b="1" sz="14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• boza.app, boza.core, boza.common</a:t>
              </a:r>
              <a:endParaRPr b="0" sz="11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• boza.ecs, boza.input, boza.gfx</a:t>
              </a:r>
              <a:endParaRPr b="0" sz="11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571500" y="2714625"/>
            <a:ext cx="3905400" cy="1428900"/>
            <a:chOff x="571500" y="2714625"/>
            <a:chExt cx="3905400" cy="1428900"/>
          </a:xfrm>
        </p:grpSpPr>
        <p:sp>
          <p:nvSpPr>
            <p:cNvPr id="118" name="Google Shape;118;p17"/>
            <p:cNvSpPr/>
            <p:nvPr/>
          </p:nvSpPr>
          <p:spPr>
            <a:xfrm>
              <a:off x="571500" y="2714625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111E2E"/>
            </a:solidFill>
            <a:ln cap="flat" cmpd="sng" w="11900">
              <a:solidFill>
                <a:srgbClr val="AAB7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714375" y="2714625"/>
              <a:ext cx="3619500" cy="28500"/>
            </a:xfrm>
            <a:prstGeom prst="roundRect">
              <a:avLst>
                <a:gd fmla="val 50000" name="adj"/>
              </a:avLst>
            </a:prstGeom>
            <a:solidFill>
              <a:srgbClr val="AAB7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714375" y="2809875"/>
              <a:ext cx="36195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AAB7C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boza/src/ </a:t>
              </a:r>
              <a:r>
                <a:rPr b="0" lang="en-GB" sz="900">
                  <a:solidFill>
                    <a:srgbClr val="77777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— Private Implementation</a:t>
              </a:r>
              <a:endParaRPr b="1" sz="1400">
                <a:solidFill>
                  <a:srgbClr val="AAB7C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• internal implementation, platform</a:t>
              </a:r>
              <a:endParaRPr b="0" sz="11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• rhi, vulkan backend</a:t>
              </a:r>
              <a:endParaRPr b="0" sz="11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4667250" y="1143000"/>
            <a:ext cx="3905400" cy="857400"/>
            <a:chOff x="4667250" y="1143000"/>
            <a:chExt cx="3905400" cy="857400"/>
          </a:xfrm>
        </p:grpSpPr>
        <p:sp>
          <p:nvSpPr>
            <p:cNvPr id="122" name="Google Shape;122;p17"/>
            <p:cNvSpPr/>
            <p:nvPr/>
          </p:nvSpPr>
          <p:spPr>
            <a:xfrm>
              <a:off x="4667250" y="114300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111E2E"/>
            </a:solidFill>
            <a:ln cap="flat" cmpd="sng" w="11900">
              <a:solidFill>
                <a:srgbClr val="FF9B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810125" y="1143000"/>
              <a:ext cx="3619500" cy="28500"/>
            </a:xfrm>
            <a:prstGeom prst="roundRect">
              <a:avLst>
                <a:gd fmla="val 50000" name="adj"/>
              </a:avLst>
            </a:prstGeom>
            <a:solidFill>
              <a:srgbClr val="FF9B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4810125" y="123825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9B4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examples/</a:t>
              </a:r>
              <a:endParaRPr b="1" sz="1300">
                <a:solidFill>
                  <a:srgbClr val="FF9B4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• material_showcase, instancing_example, shooting_example</a:t>
              </a:r>
              <a:endParaRPr b="0" sz="11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4667250" y="2143125"/>
            <a:ext cx="1905000" cy="952500"/>
            <a:chOff x="4667250" y="2143125"/>
            <a:chExt cx="1905000" cy="952500"/>
          </a:xfrm>
        </p:grpSpPr>
        <p:sp>
          <p:nvSpPr>
            <p:cNvPr id="126" name="Google Shape;126;p17"/>
            <p:cNvSpPr/>
            <p:nvPr/>
          </p:nvSpPr>
          <p:spPr>
            <a:xfrm>
              <a:off x="4667250" y="2143125"/>
              <a:ext cx="1905000" cy="952500"/>
            </a:xfrm>
            <a:prstGeom prst="roundRect">
              <a:avLst>
                <a:gd fmla="val 12000" name="adj"/>
              </a:avLst>
            </a:prstGeom>
            <a:solidFill>
              <a:srgbClr val="111E2E"/>
            </a:solidFill>
            <a:ln cap="flat" cmpd="sng" w="11900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810125" y="2143125"/>
              <a:ext cx="1619100" cy="28500"/>
            </a:xfrm>
            <a:prstGeom prst="roundRect">
              <a:avLst>
                <a:gd fmla="val 50000" name="adj"/>
              </a:avLst>
            </a:prstGeom>
            <a:solidFill>
              <a:srgbClr val="27C7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4810125" y="2238375"/>
              <a:ext cx="16191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assets/</a:t>
              </a:r>
              <a:endParaRPr b="1" sz="12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• materials, textures, samplers</a:t>
              </a:r>
              <a:endParaRPr b="0"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6667500" y="2143125"/>
            <a:ext cx="1905000" cy="952500"/>
            <a:chOff x="6667500" y="2143125"/>
            <a:chExt cx="1905000" cy="952500"/>
          </a:xfrm>
        </p:grpSpPr>
        <p:sp>
          <p:nvSpPr>
            <p:cNvPr id="130" name="Google Shape;130;p17"/>
            <p:cNvSpPr/>
            <p:nvPr/>
          </p:nvSpPr>
          <p:spPr>
            <a:xfrm>
              <a:off x="6667500" y="2143125"/>
              <a:ext cx="1905000" cy="952500"/>
            </a:xfrm>
            <a:prstGeom prst="roundRect">
              <a:avLst>
                <a:gd fmla="val 12000" name="adj"/>
              </a:avLst>
            </a:prstGeom>
            <a:solidFill>
              <a:srgbClr val="111E2E"/>
            </a:solidFill>
            <a:ln cap="flat" cmpd="sng" w="11900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6810375" y="2143125"/>
              <a:ext cx="1619100" cy="28500"/>
            </a:xfrm>
            <a:prstGeom prst="roundRect">
              <a:avLst>
                <a:gd fmla="val 50000" name="adj"/>
              </a:avLst>
            </a:prstGeom>
            <a:solidFill>
              <a:srgbClr val="27C7A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6810375" y="2238375"/>
              <a:ext cx="16191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shaders/</a:t>
              </a:r>
              <a:endParaRPr b="1" sz="12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• vertex, fragment, compute GLSL shaders</a:t>
              </a:r>
              <a:endParaRPr b="0"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4667250" y="3238500"/>
            <a:ext cx="3905400" cy="857400"/>
            <a:chOff x="4667250" y="3238500"/>
            <a:chExt cx="3905400" cy="857400"/>
          </a:xfrm>
        </p:grpSpPr>
        <p:sp>
          <p:nvSpPr>
            <p:cNvPr id="134" name="Google Shape;134;p17"/>
            <p:cNvSpPr/>
            <p:nvPr/>
          </p:nvSpPr>
          <p:spPr>
            <a:xfrm>
              <a:off x="4667250" y="323850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111E2E"/>
            </a:solidFill>
            <a:ln cap="flat" cmpd="sng" w="11900">
              <a:solidFill>
                <a:srgbClr val="AAB7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4810125" y="3238500"/>
              <a:ext cx="3619500" cy="28500"/>
            </a:xfrm>
            <a:prstGeom prst="roundRect">
              <a:avLst>
                <a:gd fmla="val 50000" name="adj"/>
              </a:avLst>
            </a:prstGeom>
            <a:solidFill>
              <a:srgbClr val="AAB7C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4810125" y="3333750"/>
              <a:ext cx="3619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AAB7C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tools/</a:t>
              </a:r>
              <a:endParaRPr b="1" sz="1300">
                <a:solidFill>
                  <a:srgbClr val="AAB7C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     </a:t>
              </a:r>
              <a:r>
                <a:rPr b="0" lang="en-GB" sz="11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shader_processor/</a:t>
              </a:r>
              <a:endParaRPr b="0" sz="11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37" name="Google Shape;137;p17"/>
          <p:cNvSpPr txBox="1"/>
          <p:nvPr/>
        </p:nvSpPr>
        <p:spPr>
          <a:xfrm>
            <a:off x="571500" y="423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rPr>
              <a:t>• Публични modules и отделна вътрешна имплементация</a:t>
            </a:r>
            <a:endParaRPr sz="1000">
              <a:solidFill>
                <a:srgbClr val="27C7A7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rPr>
              <a:t>• Examples демонстрират различни engine подсистеми</a:t>
            </a:r>
            <a:endParaRPr sz="1000">
              <a:solidFill>
                <a:srgbClr val="27C7A7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rPr>
              <a:t>• Assets, shaders и tooling са част от общия workflow</a:t>
            </a:r>
            <a:endParaRPr sz="1000">
              <a:solidFill>
                <a:srgbClr val="27C7A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8001000" y="4707650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  <a:endParaRPr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571500" y="381000"/>
            <a:ext cx="6667500" cy="55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5FA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Game loop и frame execution</a:t>
            </a:r>
            <a:endParaRPr b="1" sz="2800">
              <a:solidFill>
                <a:srgbClr val="F5FA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8382000" y="4810125"/>
            <a:ext cx="2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  <a:endParaRPr b="0"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" name="Google Shape;145;p18"/>
          <p:cNvGrpSpPr/>
          <p:nvPr/>
        </p:nvGrpSpPr>
        <p:grpSpPr>
          <a:xfrm>
            <a:off x="1143000" y="1401625"/>
            <a:ext cx="6858000" cy="3200400"/>
            <a:chOff x="1143000" y="1143000"/>
            <a:chExt cx="6858000" cy="3200400"/>
          </a:xfrm>
        </p:grpSpPr>
        <p:pic>
          <p:nvPicPr>
            <p:cNvPr id="146" name="Google Shape;14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1014358">
              <a:off x="1561791" y="2344839"/>
              <a:ext cx="796419" cy="7967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894444">
              <a:off x="6795071" y="2228876"/>
              <a:ext cx="875776" cy="875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8"/>
            <p:cNvSpPr/>
            <p:nvPr/>
          </p:nvSpPr>
          <p:spPr>
            <a:xfrm>
              <a:off x="2286000" y="1143000"/>
              <a:ext cx="4572000" cy="1714500"/>
            </a:xfrm>
            <a:prstGeom prst="roundRect">
              <a:avLst>
                <a:gd fmla="val 11111" name="adj"/>
              </a:avLst>
            </a:prstGeom>
            <a:solidFill>
              <a:srgbClr val="111E2E">
                <a:alpha val="95000"/>
              </a:srgbClr>
            </a:solidFill>
            <a:ln cap="flat" cmpd="sng" w="19050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2286000" y="123825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5FA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world.progress(delta_time)</a:t>
              </a:r>
              <a:endParaRPr b="1" sz="1400">
                <a:solidFill>
                  <a:srgbClr val="F5FA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2286000" y="1476375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ECS / system phases</a:t>
              </a:r>
              <a:endParaRPr b="0" sz="9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151" name="Google Shape;151;p18"/>
            <p:cNvGrpSpPr/>
            <p:nvPr/>
          </p:nvGrpSpPr>
          <p:grpSpPr>
            <a:xfrm>
              <a:off x="2590850" y="1762125"/>
              <a:ext cx="3957625" cy="857400"/>
              <a:chOff x="2590850" y="1762125"/>
              <a:chExt cx="3957625" cy="857400"/>
            </a:xfrm>
          </p:grpSpPr>
          <p:sp>
            <p:nvSpPr>
              <p:cNvPr id="152" name="Google Shape;152;p18"/>
              <p:cNvSpPr/>
              <p:nvPr/>
            </p:nvSpPr>
            <p:spPr>
              <a:xfrm>
                <a:off x="2595525" y="1762125"/>
                <a:ext cx="952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111E2E"/>
              </a:solidFill>
              <a:ln cap="flat" cmpd="sng" w="9525">
                <a:solidFill>
                  <a:srgbClr val="35D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8"/>
              <p:cNvSpPr txBox="1"/>
              <p:nvPr/>
            </p:nvSpPr>
            <p:spPr>
              <a:xfrm>
                <a:off x="2590850" y="1762125"/>
                <a:ext cx="952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35D6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EngineUpdate</a:t>
                </a:r>
                <a:endParaRPr b="1" sz="85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F5FAFF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InputSystem</a:t>
                </a:r>
                <a:endParaRPr b="0" sz="75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AAB7C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gameplay</a:t>
                </a:r>
                <a:endParaRPr b="0" sz="7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>
                <a:off x="3643275" y="1762125"/>
                <a:ext cx="8574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111E2E"/>
              </a:solidFill>
              <a:ln cap="flat" cmpd="sng" w="9525">
                <a:solidFill>
                  <a:srgbClr val="35D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8"/>
              <p:cNvSpPr txBox="1"/>
              <p:nvPr/>
            </p:nvSpPr>
            <p:spPr>
              <a:xfrm>
                <a:off x="3638600" y="1762125"/>
                <a:ext cx="857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35D6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PreRender</a:t>
                </a:r>
                <a:endParaRPr b="1" sz="85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F5FAFF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Transform</a:t>
                </a:r>
                <a:endParaRPr b="0" sz="75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AAB7C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prep</a:t>
                </a:r>
                <a:endParaRPr b="0" sz="7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4595775" y="1762125"/>
                <a:ext cx="10479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111E2E"/>
              </a:solidFill>
              <a:ln cap="flat" cmpd="sng" w="14300">
                <a:solidFill>
                  <a:srgbClr val="27C7A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8"/>
              <p:cNvSpPr txBox="1"/>
              <p:nvPr/>
            </p:nvSpPr>
            <p:spPr>
              <a:xfrm>
                <a:off x="4591100" y="1762125"/>
                <a:ext cx="10479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27C7A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EngineRender</a:t>
                </a:r>
                <a:endParaRPr b="1" sz="85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F5FAFF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RenderingSystem</a:t>
                </a:r>
                <a:endParaRPr b="0" sz="75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AAB7C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submit</a:t>
                </a:r>
                <a:endParaRPr b="0" sz="7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5738775" y="1762125"/>
                <a:ext cx="809700" cy="857400"/>
              </a:xfrm>
              <a:prstGeom prst="roundRect">
                <a:avLst>
                  <a:gd fmla="val 9411" name="adj"/>
                </a:avLst>
              </a:prstGeom>
              <a:solidFill>
                <a:srgbClr val="111E2E"/>
              </a:solidFill>
              <a:ln cap="flat" cmpd="sng" w="9525">
                <a:solidFill>
                  <a:srgbClr val="35D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8"/>
              <p:cNvSpPr txBox="1"/>
              <p:nvPr/>
            </p:nvSpPr>
            <p:spPr>
              <a:xfrm>
                <a:off x="5734100" y="1762125"/>
                <a:ext cx="8097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50">
                    <a:solidFill>
                      <a:srgbClr val="35D6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Destroy</a:t>
                </a:r>
                <a:endParaRPr b="1" sz="85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AAB7C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phases</a:t>
                </a:r>
                <a:endParaRPr b="0" sz="7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</p:grpSp>
        <p:sp>
          <p:nvSpPr>
            <p:cNvPr id="160" name="Google Shape;160;p18"/>
            <p:cNvSpPr/>
            <p:nvPr/>
          </p:nvSpPr>
          <p:spPr>
            <a:xfrm>
              <a:off x="1143000" y="3238500"/>
              <a:ext cx="1905000" cy="952500"/>
            </a:xfrm>
            <a:prstGeom prst="roundRect">
              <a:avLst>
                <a:gd fmla="val 15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 txBox="1"/>
            <p:nvPr/>
          </p:nvSpPr>
          <p:spPr>
            <a:xfrm>
              <a:off x="1143000" y="323850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Start of frame</a:t>
              </a:r>
              <a:endParaRPr b="1" sz="10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Time::update()</a:t>
              </a:r>
              <a:endParaRPr b="1" sz="12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delta time / frame count</a:t>
              </a:r>
              <a:endParaRPr b="0" sz="8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6096000" y="3238500"/>
              <a:ext cx="1905000" cy="952500"/>
            </a:xfrm>
            <a:prstGeom prst="roundRect">
              <a:avLst>
                <a:gd fmla="val 15000" name="adj"/>
              </a:avLst>
            </a:prstGeom>
            <a:solidFill>
              <a:srgbClr val="111E2E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6096000" y="323850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End of frame</a:t>
              </a:r>
              <a:endParaRPr b="1" sz="10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Cleanup</a:t>
              </a:r>
              <a:endParaRPr b="1" sz="12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8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remove pending</a:t>
              </a:r>
              <a:endParaRPr b="0" sz="8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64" name="Google Shape;164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52713" y="4076700"/>
              <a:ext cx="38292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35D6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476175" y="1182450"/>
            <a:ext cx="2381400" cy="2778600"/>
          </a:xfrm>
          <a:prstGeom prst="roundRect">
            <a:avLst>
              <a:gd fmla="val 4800" name="adj"/>
            </a:avLst>
          </a:prstGeom>
          <a:solidFill>
            <a:srgbClr val="111E2E"/>
          </a:solidFill>
          <a:ln cap="flat" cmpd="sng" w="14300">
            <a:solidFill>
              <a:srgbClr val="35D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3381300" y="1182450"/>
            <a:ext cx="2381400" cy="2778600"/>
          </a:xfrm>
          <a:prstGeom prst="roundRect">
            <a:avLst>
              <a:gd fmla="val 4800" name="adj"/>
            </a:avLst>
          </a:prstGeom>
          <a:solidFill>
            <a:srgbClr val="111E2E"/>
          </a:solidFill>
          <a:ln cap="flat" cmpd="sng" w="14300">
            <a:solidFill>
              <a:srgbClr val="27C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286425" y="1182450"/>
            <a:ext cx="2381400" cy="2778600"/>
          </a:xfrm>
          <a:prstGeom prst="roundRect">
            <a:avLst>
              <a:gd fmla="val 4800" name="adj"/>
            </a:avLst>
          </a:prstGeom>
          <a:solidFill>
            <a:srgbClr val="111E2E"/>
          </a:solidFill>
          <a:ln cap="flat" cmpd="sng" w="14300">
            <a:solidFill>
              <a:srgbClr val="FF9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5FA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ECS и scene management</a:t>
            </a:r>
            <a:endParaRPr b="1" sz="3200">
              <a:solidFill>
                <a:srgbClr val="F5FA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74" name="Google Shape;174;p19"/>
          <p:cNvGrpSpPr/>
          <p:nvPr/>
        </p:nvGrpSpPr>
        <p:grpSpPr>
          <a:xfrm>
            <a:off x="476175" y="1182450"/>
            <a:ext cx="2381400" cy="2095650"/>
            <a:chOff x="476250" y="1047750"/>
            <a:chExt cx="2381400" cy="2095650"/>
          </a:xfrm>
        </p:grpSpPr>
        <p:sp>
          <p:nvSpPr>
            <p:cNvPr id="175" name="Google Shape;175;p19"/>
            <p:cNvSpPr txBox="1"/>
            <p:nvPr/>
          </p:nvSpPr>
          <p:spPr>
            <a:xfrm>
              <a:off x="476250" y="1047750"/>
              <a:ext cx="23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SCENE HIERARCHY</a:t>
              </a:r>
              <a:endParaRPr b="1" sz="11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685800" y="1543050"/>
              <a:ext cx="57300" cy="57300"/>
            </a:xfrm>
            <a:prstGeom prst="ellipse">
              <a:avLst/>
            </a:prstGeom>
            <a:solidFill>
              <a:srgbClr val="35D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809625" y="1476375"/>
              <a:ext cx="952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Scene</a:t>
              </a:r>
              <a:endParaRPr b="1" sz="10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78" name="Google Shape;178;p19"/>
            <p:cNvPicPr preferRelativeResize="0"/>
            <p:nvPr/>
          </p:nvPicPr>
          <p:blipFill rotWithShape="1">
            <a:blip r:embed="rId5">
              <a:alphaModFix/>
            </a:blip>
            <a:srcRect b="0" l="729" r="729" t="0"/>
            <a:stretch/>
          </p:blipFill>
          <p:spPr>
            <a:xfrm>
              <a:off x="709613" y="1600200"/>
              <a:ext cx="428700" cy="13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9"/>
            <p:cNvSpPr/>
            <p:nvPr/>
          </p:nvSpPr>
          <p:spPr>
            <a:xfrm>
              <a:off x="904875" y="1714500"/>
              <a:ext cx="1524000" cy="285900"/>
            </a:xfrm>
            <a:prstGeom prst="roundRect">
              <a:avLst>
                <a:gd fmla="val 20000" name="adj"/>
              </a:avLst>
            </a:prstGeom>
            <a:solidFill>
              <a:srgbClr val="1A2B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904875" y="1714500"/>
              <a:ext cx="1524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Root GameObject</a:t>
              </a:r>
              <a:endParaRPr b="0" sz="9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000125" y="2095500"/>
              <a:ext cx="1333500" cy="285900"/>
            </a:xfrm>
            <a:prstGeom prst="roundRect">
              <a:avLst>
                <a:gd fmla="val 20000" name="adj"/>
              </a:avLst>
            </a:prstGeom>
            <a:solidFill>
              <a:srgbClr val="1A2B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9"/>
            <p:cNvSpPr txBox="1"/>
            <p:nvPr/>
          </p:nvSpPr>
          <p:spPr>
            <a:xfrm>
              <a:off x="1000125" y="2095500"/>
              <a:ext cx="1333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Child object</a:t>
              </a:r>
              <a:endParaRPr b="0" sz="9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1000125" y="2476500"/>
              <a:ext cx="1333500" cy="285900"/>
            </a:xfrm>
            <a:prstGeom prst="roundRect">
              <a:avLst>
                <a:gd fmla="val 20000" name="adj"/>
              </a:avLst>
            </a:prstGeom>
            <a:solidFill>
              <a:srgbClr val="1A2B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1000125" y="2476500"/>
              <a:ext cx="1333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Child object</a:t>
              </a:r>
              <a:endParaRPr b="0" sz="9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1190625" y="2857500"/>
              <a:ext cx="1143000" cy="285900"/>
            </a:xfrm>
            <a:prstGeom prst="roundRect">
              <a:avLst>
                <a:gd fmla="val 20000" name="adj"/>
              </a:avLst>
            </a:prstGeom>
            <a:solidFill>
              <a:srgbClr val="1A2B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1190625" y="2857500"/>
              <a:ext cx="1143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Nested child</a:t>
              </a:r>
              <a:endParaRPr b="0" sz="8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87" name="Google Shape;187;p19"/>
          <p:cNvGrpSpPr/>
          <p:nvPr/>
        </p:nvGrpSpPr>
        <p:grpSpPr>
          <a:xfrm>
            <a:off x="3381300" y="1182450"/>
            <a:ext cx="2381400" cy="2290763"/>
            <a:chOff x="3381375" y="1047750"/>
            <a:chExt cx="2381400" cy="2290763"/>
          </a:xfrm>
        </p:grpSpPr>
        <p:sp>
          <p:nvSpPr>
            <p:cNvPr id="188" name="Google Shape;188;p19"/>
            <p:cNvSpPr txBox="1"/>
            <p:nvPr/>
          </p:nvSpPr>
          <p:spPr>
            <a:xfrm>
              <a:off x="3381375" y="1047750"/>
              <a:ext cx="23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КОМПОНЕНТИ</a:t>
              </a:r>
              <a:endParaRPr b="1" sz="11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3571875" y="1476375"/>
              <a:ext cx="2000100" cy="324000"/>
            </a:xfrm>
            <a:prstGeom prst="roundRect">
              <a:avLst>
                <a:gd fmla="val 23529" name="adj"/>
              </a:avLst>
            </a:prstGeom>
            <a:solidFill>
              <a:srgbClr val="1A2B3E"/>
            </a:solidFill>
            <a:ln cap="flat" cmpd="sng" w="4775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3571875" y="1476375"/>
              <a:ext cx="20001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Transform</a:t>
              </a:r>
              <a:endParaRPr b="0" sz="10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3571875" y="1847850"/>
              <a:ext cx="2000100" cy="324000"/>
            </a:xfrm>
            <a:prstGeom prst="roundRect">
              <a:avLst>
                <a:gd fmla="val 23529" name="adj"/>
              </a:avLst>
            </a:prstGeom>
            <a:solidFill>
              <a:srgbClr val="1A2B3E"/>
            </a:solidFill>
            <a:ln cap="flat" cmpd="sng" w="4775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3571875" y="1847850"/>
              <a:ext cx="20001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Camera</a:t>
              </a:r>
              <a:endParaRPr b="0" sz="10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3571875" y="2219325"/>
              <a:ext cx="2000100" cy="324000"/>
            </a:xfrm>
            <a:prstGeom prst="roundRect">
              <a:avLst>
                <a:gd fmla="val 23529" name="adj"/>
              </a:avLst>
            </a:prstGeom>
            <a:solidFill>
              <a:srgbClr val="1A2B3E"/>
            </a:solidFill>
            <a:ln cap="flat" cmpd="sng" w="4775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3571875" y="2219325"/>
              <a:ext cx="20001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MeshRenderer</a:t>
              </a:r>
              <a:endParaRPr b="0" sz="10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3571875" y="2590800"/>
              <a:ext cx="2000100" cy="324000"/>
            </a:xfrm>
            <a:prstGeom prst="roundRect">
              <a:avLst>
                <a:gd fmla="val 23529" name="adj"/>
              </a:avLst>
            </a:prstGeom>
            <a:solidFill>
              <a:srgbClr val="1A2B3E"/>
            </a:solidFill>
            <a:ln cap="flat" cmpd="sng" w="4775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3571875" y="2590800"/>
              <a:ext cx="20001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InputCapture</a:t>
              </a:r>
              <a:endParaRPr b="0" sz="10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97" name="Google Shape;197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67113" y="2995613"/>
              <a:ext cx="2009700" cy="34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9"/>
            <p:cNvSpPr txBox="1"/>
            <p:nvPr/>
          </p:nvSpPr>
          <p:spPr>
            <a:xfrm>
              <a:off x="3571875" y="3000375"/>
              <a:ext cx="20001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7C7A7"/>
                  </a:solidFill>
                  <a:latin typeface="Manrope"/>
                  <a:ea typeface="Manrope"/>
                  <a:cs typeface="Manrope"/>
                  <a:sym typeface="Manrope"/>
                </a:rPr>
                <a:t>Custom components</a:t>
              </a:r>
              <a:endParaRPr b="1" sz="100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99" name="Google Shape;199;p19"/>
          <p:cNvGrpSpPr/>
          <p:nvPr/>
        </p:nvGrpSpPr>
        <p:grpSpPr>
          <a:xfrm>
            <a:off x="6286425" y="1182450"/>
            <a:ext cx="2381400" cy="2529038"/>
            <a:chOff x="6286500" y="1047750"/>
            <a:chExt cx="2381400" cy="2529038"/>
          </a:xfrm>
        </p:grpSpPr>
        <p:sp>
          <p:nvSpPr>
            <p:cNvPr id="200" name="Google Shape;200;p19"/>
            <p:cNvSpPr txBox="1"/>
            <p:nvPr/>
          </p:nvSpPr>
          <p:spPr>
            <a:xfrm>
              <a:off x="6286500" y="1047750"/>
              <a:ext cx="2381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9B43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СИСТЕМИ И ФАЗИ</a:t>
              </a:r>
              <a:endParaRPr b="1" sz="1100">
                <a:solidFill>
                  <a:srgbClr val="FF9B43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pic>
          <p:nvPicPr>
            <p:cNvPr id="201" name="Google Shape;201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76988" y="1423988"/>
              <a:ext cx="2200200" cy="8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9"/>
            <p:cNvSpPr txBox="1"/>
            <p:nvPr/>
          </p:nvSpPr>
          <p:spPr>
            <a:xfrm>
              <a:off x="6477000" y="1447800"/>
              <a:ext cx="2000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9B43"/>
                  </a:solidFill>
                  <a:latin typeface="Manrope"/>
                  <a:ea typeface="Manrope"/>
                  <a:cs typeface="Manrope"/>
                  <a:sym typeface="Manrope"/>
                </a:rPr>
                <a:t>SystemStage / Phase</a:t>
              </a:r>
              <a:endParaRPr b="1" sz="850">
                <a:solidFill>
                  <a:srgbClr val="FF9B43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6477000" y="1666875"/>
              <a:ext cx="571500" cy="381000"/>
            </a:xfrm>
            <a:prstGeom prst="roundRect">
              <a:avLst>
                <a:gd fmla="val 10000" name="adj"/>
              </a:avLst>
            </a:prstGeom>
            <a:solidFill>
              <a:srgbClr val="0D16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6477000" y="1666875"/>
              <a:ext cx="571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Engine</a:t>
              </a:r>
              <a:b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Update</a:t>
              </a:r>
              <a:endParaRPr b="0" sz="700">
                <a:solidFill>
                  <a:srgbClr val="F5FA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7191375" y="1666875"/>
              <a:ext cx="571500" cy="381000"/>
            </a:xfrm>
            <a:prstGeom prst="roundRect">
              <a:avLst>
                <a:gd fmla="val 10000" name="adj"/>
              </a:avLst>
            </a:prstGeom>
            <a:solidFill>
              <a:srgbClr val="0D16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7191375" y="1666875"/>
              <a:ext cx="571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Pre</a:t>
              </a:r>
              <a:b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Render</a:t>
              </a:r>
              <a:endParaRPr b="0" sz="700">
                <a:solidFill>
                  <a:srgbClr val="F5FA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7905750" y="1666875"/>
              <a:ext cx="571500" cy="381000"/>
            </a:xfrm>
            <a:prstGeom prst="roundRect">
              <a:avLst>
                <a:gd fmla="val 10000" name="adj"/>
              </a:avLst>
            </a:prstGeom>
            <a:solidFill>
              <a:srgbClr val="0D16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 txBox="1"/>
            <p:nvPr/>
          </p:nvSpPr>
          <p:spPr>
            <a:xfrm>
              <a:off x="7905750" y="1666875"/>
              <a:ext cx="571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Engine</a:t>
              </a:r>
              <a:b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b="0" lang="en-GB" sz="700">
                  <a:solidFill>
                    <a:srgbClr val="F5FA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Render</a:t>
              </a:r>
              <a:endParaRPr b="0" sz="700">
                <a:solidFill>
                  <a:srgbClr val="F5FAFF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6477000" y="2266950"/>
              <a:ext cx="2000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5FAFF"/>
                  </a:solidFill>
                  <a:latin typeface="Manrope"/>
                  <a:ea typeface="Manrope"/>
                  <a:cs typeface="Manrope"/>
                  <a:sym typeface="Manrope"/>
                </a:rPr>
                <a:t>Системи</a:t>
              </a:r>
              <a:endParaRPr b="1" sz="900">
                <a:solidFill>
                  <a:srgbClr val="F5FA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6477000" y="2476500"/>
              <a:ext cx="2000100" cy="238200"/>
            </a:xfrm>
            <a:prstGeom prst="roundRect">
              <a:avLst>
                <a:gd fmla="val 16000" name="adj"/>
              </a:avLst>
            </a:prstGeom>
            <a:solidFill>
              <a:srgbClr val="1A2B3E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6477000" y="2476500"/>
              <a:ext cx="20001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InputSystem</a:t>
              </a:r>
              <a:endParaRPr b="0" sz="8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6477000" y="2762250"/>
              <a:ext cx="2000100" cy="238200"/>
            </a:xfrm>
            <a:prstGeom prst="roundRect">
              <a:avLst>
                <a:gd fmla="val 16000" name="adj"/>
              </a:avLst>
            </a:prstGeom>
            <a:solidFill>
              <a:srgbClr val="1A2B3E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6477000" y="2762250"/>
              <a:ext cx="20001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TransformSystem</a:t>
              </a:r>
              <a:endParaRPr b="0" sz="8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6477000" y="3048000"/>
              <a:ext cx="2000100" cy="238200"/>
            </a:xfrm>
            <a:prstGeom prst="roundRect">
              <a:avLst>
                <a:gd fmla="val 16000" name="adj"/>
              </a:avLst>
            </a:prstGeom>
            <a:solidFill>
              <a:srgbClr val="1A2B3E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6477000" y="3048000"/>
              <a:ext cx="20001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RenderingSystem</a:t>
              </a:r>
              <a:endParaRPr b="0" sz="8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16" name="Google Shape;216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472238" y="3328988"/>
              <a:ext cx="20097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9"/>
            <p:cNvSpPr txBox="1"/>
            <p:nvPr/>
          </p:nvSpPr>
          <p:spPr>
            <a:xfrm>
              <a:off x="6477000" y="3333750"/>
              <a:ext cx="20001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FF9B43"/>
                  </a:solidFill>
                  <a:latin typeface="Manrope"/>
                  <a:ea typeface="Manrope"/>
                  <a:cs typeface="Manrope"/>
                  <a:sym typeface="Manrope"/>
                </a:rPr>
                <a:t>Custom systems</a:t>
              </a:r>
              <a:endParaRPr b="1" sz="850">
                <a:solidFill>
                  <a:srgbClr val="FF9B43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18" name="Google Shape;218;p19"/>
          <p:cNvSpPr txBox="1"/>
          <p:nvPr/>
        </p:nvSpPr>
        <p:spPr>
          <a:xfrm>
            <a:off x="8001000" y="4810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  <a:endParaRPr b="0"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476250" y="428625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rPr>
              <a:t>Scene определя структурата, компонентите описват данните, системите изпълняват поведението.</a:t>
            </a:r>
            <a:endParaRPr b="0" sz="1300">
              <a:solidFill>
                <a:srgbClr val="27C7A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Rendering pipeline</a:t>
            </a:r>
            <a:endParaRPr b="0" sz="110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24" name="Google Shape;224;p20"/>
          <p:cNvGrpSpPr/>
          <p:nvPr/>
        </p:nvGrpSpPr>
        <p:grpSpPr>
          <a:xfrm>
            <a:off x="571425" y="1511050"/>
            <a:ext cx="8001150" cy="190500"/>
            <a:chOff x="571500" y="1285875"/>
            <a:chExt cx="8001150" cy="190500"/>
          </a:xfrm>
        </p:grpSpPr>
        <p:sp>
          <p:nvSpPr>
            <p:cNvPr id="225" name="Google Shape;225;p20"/>
            <p:cNvSpPr txBox="1"/>
            <p:nvPr/>
          </p:nvSpPr>
          <p:spPr>
            <a:xfrm>
              <a:off x="571500" y="1285875"/>
              <a:ext cx="6381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35D6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Engine side</a:t>
              </a:r>
              <a:endParaRPr b="1" sz="8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7143750" y="1285875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27C7A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GPU / Vulkan side</a:t>
              </a:r>
              <a:endParaRPr b="1" sz="8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7" name="Google Shape;227;p20"/>
          <p:cNvSpPr/>
          <p:nvPr/>
        </p:nvSpPr>
        <p:spPr>
          <a:xfrm>
            <a:off x="571425" y="1844425"/>
            <a:ext cx="1467000" cy="1711800"/>
          </a:xfrm>
          <a:prstGeom prst="roundRect">
            <a:avLst>
              <a:gd fmla="val 7792" name="adj"/>
            </a:avLst>
          </a:prstGeom>
          <a:solidFill>
            <a:srgbClr val="111E2E">
              <a:alpha val="90000"/>
            </a:srgbClr>
          </a:solidFill>
          <a:ln cap="flat" cmpd="sng" w="14300">
            <a:solidFill>
              <a:srgbClr val="35D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66675" y="1939675"/>
            <a:ext cx="1276500" cy="15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Scene inputs</a:t>
            </a:r>
            <a:endParaRPr b="1" sz="1100">
              <a:solidFill>
                <a:srgbClr val="35D6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MeshRenderer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Transform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Camera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2045475" y="2728913"/>
            <a:ext cx="5048325" cy="114300"/>
            <a:chOff x="2045550" y="2503738"/>
            <a:chExt cx="5048325" cy="114300"/>
          </a:xfrm>
        </p:grpSpPr>
        <p:pic>
          <p:nvPicPr>
            <p:cNvPr id="230" name="Google Shape;23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45550" y="2503738"/>
              <a:ext cx="1191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45750" y="2503738"/>
              <a:ext cx="1191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45950" y="2503738"/>
              <a:ext cx="1191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50875" y="2503738"/>
              <a:ext cx="2430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p20"/>
          <p:cNvSpPr/>
          <p:nvPr/>
        </p:nvSpPr>
        <p:spPr>
          <a:xfrm>
            <a:off x="2171625" y="1844425"/>
            <a:ext cx="1467000" cy="1711800"/>
          </a:xfrm>
          <a:prstGeom prst="roundRect">
            <a:avLst>
              <a:gd fmla="val 7792" name="adj"/>
            </a:avLst>
          </a:prstGeom>
          <a:solidFill>
            <a:srgbClr val="111E2E">
              <a:alpha val="90000"/>
            </a:srgbClr>
          </a:solidFill>
          <a:ln cap="flat" cmpd="sng" w="14300">
            <a:solidFill>
              <a:srgbClr val="35D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266875" y="1939675"/>
            <a:ext cx="1276500" cy="15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Render cache sync</a:t>
            </a:r>
            <a:endParaRPr b="1" sz="1100">
              <a:solidFill>
                <a:srgbClr val="35D6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SanityCheck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mesh/material changes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invalidated renderers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3771825" y="1844425"/>
            <a:ext cx="1467000" cy="1711800"/>
          </a:xfrm>
          <a:prstGeom prst="roundRect">
            <a:avLst>
              <a:gd fmla="val 7792" name="adj"/>
            </a:avLst>
          </a:prstGeom>
          <a:solidFill>
            <a:srgbClr val="111E2E">
              <a:alpha val="90000"/>
            </a:srgbClr>
          </a:solidFill>
          <a:ln cap="flat" cmpd="sng" w="14300">
            <a:solidFill>
              <a:srgbClr val="35D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3867075" y="1939675"/>
            <a:ext cx="1276500" cy="15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Begin frame</a:t>
            </a:r>
            <a:endParaRPr b="1" sz="1100">
              <a:solidFill>
                <a:srgbClr val="35D6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swapchain begin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command buffer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render pass start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5372025" y="1844425"/>
            <a:ext cx="1467000" cy="1711800"/>
          </a:xfrm>
          <a:prstGeom prst="roundRect">
            <a:avLst>
              <a:gd fmla="val 7792" name="adj"/>
            </a:avLst>
          </a:prstGeom>
          <a:solidFill>
            <a:srgbClr val="111E2E">
              <a:alpha val="90000"/>
            </a:srgbClr>
          </a:solidFill>
          <a:ln cap="flat" cmpd="sng" w="14300">
            <a:solidFill>
              <a:srgbClr val="35D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5467275" y="1939675"/>
            <a:ext cx="1276500" cy="15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35D6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Visibility + batching</a:t>
            </a:r>
            <a:endParaRPr b="1" sz="1100">
              <a:solidFill>
                <a:srgbClr val="35D6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CameraUboUpdate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frustum culling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group material/mesh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optional instancing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7105575" y="1844425"/>
            <a:ext cx="1467000" cy="1711800"/>
          </a:xfrm>
          <a:prstGeom prst="roundRect">
            <a:avLst>
              <a:gd fmla="val 7792" name="adj"/>
            </a:avLst>
          </a:prstGeom>
          <a:solidFill>
            <a:srgbClr val="111E2E">
              <a:alpha val="90000"/>
            </a:srgbClr>
          </a:solidFill>
          <a:ln cap="flat" cmpd="sng" w="14300">
            <a:solidFill>
              <a:srgbClr val="27C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" name="Google Shape;241;p20"/>
          <p:cNvGrpSpPr/>
          <p:nvPr/>
        </p:nvGrpSpPr>
        <p:grpSpPr>
          <a:xfrm>
            <a:off x="571500" y="4429125"/>
            <a:ext cx="8001150" cy="381000"/>
            <a:chOff x="571500" y="4429125"/>
            <a:chExt cx="800115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571500" y="44291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27C7A7"/>
                  </a:solidFill>
                  <a:latin typeface="Manrope"/>
                  <a:ea typeface="Manrope"/>
                  <a:cs typeface="Manrope"/>
                  <a:sym typeface="Manrope"/>
                </a:rPr>
                <a:t>Render cache-ът се синхронизира преди началото на кадъра</a:t>
              </a:r>
              <a:endParaRPr sz="85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3286125" y="44291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27C7A7"/>
                  </a:solidFill>
                  <a:latin typeface="Manrope"/>
                  <a:ea typeface="Manrope"/>
                  <a:cs typeface="Manrope"/>
                  <a:sym typeface="Manrope"/>
                </a:rPr>
                <a:t>Видимостта и batching-ът подготвят draw calls</a:t>
              </a:r>
              <a:endParaRPr sz="85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6000750" y="4429125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27C7A7"/>
                  </a:solidFill>
                  <a:latin typeface="Manrope"/>
                  <a:ea typeface="Manrope"/>
                  <a:cs typeface="Manrope"/>
                  <a:sym typeface="Manrope"/>
                </a:rPr>
                <a:t>Подаването към GPU става едва след scene-side подготовката</a:t>
              </a:r>
              <a:endParaRPr sz="85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45" name="Google Shape;245;p20"/>
          <p:cNvSpPr txBox="1"/>
          <p:nvPr/>
        </p:nvSpPr>
        <p:spPr>
          <a:xfrm>
            <a:off x="7200825" y="1939675"/>
            <a:ext cx="1276500" cy="15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27C7A7"/>
                </a:solidFill>
                <a:latin typeface="Space Grotesk"/>
                <a:ea typeface="Space Grotesk"/>
                <a:cs typeface="Space Grotesk"/>
                <a:sym typeface="Space Grotesk"/>
              </a:rPr>
              <a:t>GPU draw + present</a:t>
            </a:r>
            <a:endParaRPr b="1" sz="1100">
              <a:solidFill>
                <a:srgbClr val="27C7A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GraphicsPipeline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descriptors + buffers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draw calls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95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rPr>
              <a:t>• present</a:t>
            </a:r>
            <a:endParaRPr b="0" sz="950">
              <a:solidFill>
                <a:srgbClr val="AAB7C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8001000" y="4810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  <a:endParaRPr b="0"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35D6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Материали и ресурси</a:t>
            </a:r>
            <a:endParaRPr b="1" sz="32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52" name="Google Shape;252;p21"/>
          <p:cNvGrpSpPr/>
          <p:nvPr/>
        </p:nvGrpSpPr>
        <p:grpSpPr>
          <a:xfrm>
            <a:off x="571500" y="1143000"/>
            <a:ext cx="2476500" cy="3238500"/>
            <a:chOff x="571500" y="1143000"/>
            <a:chExt cx="2476500" cy="3238500"/>
          </a:xfrm>
        </p:grpSpPr>
        <p:sp>
          <p:nvSpPr>
            <p:cNvPr id="253" name="Google Shape;253;p21"/>
            <p:cNvSpPr/>
            <p:nvPr/>
          </p:nvSpPr>
          <p:spPr>
            <a:xfrm>
              <a:off x="571500" y="114300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11E2E"/>
            </a:solidFill>
            <a:ln cap="flat" cmpd="sng" w="9525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714375" y="1285875"/>
              <a:ext cx="2190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Материали</a:t>
              </a:r>
              <a:endParaRPr b="1" sz="18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 shader-и, render state и параметри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JSON дефиниции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reflection-driven bindings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2400"/>
                </a:spcBef>
                <a:spcAft>
                  <a:spcPts val="0"/>
                </a:spcAft>
                <a:buNone/>
              </a:pPr>
              <a:r>
                <a:rPr b="0" lang="en-GB" sz="850">
                  <a:solidFill>
                    <a:srgbClr val="27C7A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JSON → MaterialLoader → reflection → pipeline</a:t>
              </a:r>
              <a:endParaRPr b="0" sz="850">
                <a:solidFill>
                  <a:srgbClr val="27C7A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</p:grpSp>
      <p:grpSp>
        <p:nvGrpSpPr>
          <p:cNvPr id="255" name="Google Shape;255;p21"/>
          <p:cNvGrpSpPr/>
          <p:nvPr/>
        </p:nvGrpSpPr>
        <p:grpSpPr>
          <a:xfrm>
            <a:off x="3333750" y="1143000"/>
            <a:ext cx="2476500" cy="3238500"/>
            <a:chOff x="3333750" y="1143000"/>
            <a:chExt cx="2476500" cy="3238500"/>
          </a:xfrm>
        </p:grpSpPr>
        <p:sp>
          <p:nvSpPr>
            <p:cNvPr id="256" name="Google Shape;256;p21"/>
            <p:cNvSpPr/>
            <p:nvPr/>
          </p:nvSpPr>
          <p:spPr>
            <a:xfrm>
              <a:off x="3333750" y="114300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11E2E"/>
            </a:solidFill>
            <a:ln cap="flat" cmpd="sng" w="9525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3476625" y="1285875"/>
              <a:ext cx="2190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b="0"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Ресурси</a:t>
              </a:r>
              <a:endParaRPr b="1" sz="18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Texture, Buffer, Sampler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loading, caching и GPU upload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lifetime management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58" name="Google Shape;258;p21"/>
          <p:cNvGrpSpPr/>
          <p:nvPr/>
        </p:nvGrpSpPr>
        <p:grpSpPr>
          <a:xfrm>
            <a:off x="6096000" y="1143000"/>
            <a:ext cx="2476500" cy="3238500"/>
            <a:chOff x="6096000" y="1143000"/>
            <a:chExt cx="2476500" cy="3238500"/>
          </a:xfrm>
        </p:grpSpPr>
        <p:sp>
          <p:nvSpPr>
            <p:cNvPr id="259" name="Google Shape;259;p21"/>
            <p:cNvSpPr/>
            <p:nvPr/>
          </p:nvSpPr>
          <p:spPr>
            <a:xfrm>
              <a:off x="6096000" y="114300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111E2E"/>
            </a:solidFill>
            <a:ln cap="flat" cmpd="sng" w="9525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6238875" y="1285875"/>
              <a:ext cx="2190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b="0" sz="240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Compute</a:t>
              </a:r>
              <a:endParaRPr b="1" sz="18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ComputeDispatcher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 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подаване на buffer/texture данни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0"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•</a:t>
              </a:r>
              <a:r>
                <a:rPr lang="en-GB" sz="1200">
                  <a:solidFill>
                    <a:srgbClr val="EEEEEE"/>
                  </a:solidFill>
                  <a:latin typeface="Manrope"/>
                  <a:ea typeface="Manrope"/>
                  <a:cs typeface="Manrope"/>
                  <a:sym typeface="Manrope"/>
                </a:rPr>
                <a:t> dispatch, wait и групиране на compute задачи</a:t>
              </a:r>
              <a:endParaRPr b="0" sz="1200">
                <a:solidFill>
                  <a:srgbClr val="EEEEEE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61" name="Google Shape;261;p21"/>
          <p:cNvSpPr txBox="1"/>
          <p:nvPr/>
        </p:nvSpPr>
        <p:spPr>
          <a:xfrm>
            <a:off x="8001000" y="4762500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  <a:endParaRPr b="0"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6286500" y="-2857500"/>
            <a:ext cx="5715000" cy="5715000"/>
          </a:xfrm>
          <a:prstGeom prst="ellipse">
            <a:avLst/>
          </a:prstGeom>
          <a:solidFill>
            <a:srgbClr val="35D6FF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5FAFF"/>
                </a:solidFill>
                <a:latin typeface="Space Grotesk"/>
                <a:ea typeface="Space Grotesk"/>
                <a:cs typeface="Space Grotesk"/>
                <a:sym typeface="Space Grotesk"/>
              </a:rPr>
              <a:t>Използвани технологии</a:t>
            </a:r>
            <a:endParaRPr b="1" sz="3200">
              <a:solidFill>
                <a:srgbClr val="F5FA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8001000" y="4810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  <a:endParaRPr b="1" sz="900">
              <a:solidFill>
                <a:srgbClr val="AAB7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40" r="50" t="0"/>
          <a:stretch/>
        </p:blipFill>
        <p:spPr>
          <a:xfrm>
            <a:off x="952500" y="1428750"/>
            <a:ext cx="1524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 rotWithShape="1">
          <a:blip r:embed="rId5">
            <a:alphaModFix/>
          </a:blip>
          <a:srcRect b="0" l="120" r="130" t="0"/>
          <a:stretch/>
        </p:blipFill>
        <p:spPr>
          <a:xfrm>
            <a:off x="3048000" y="1571625"/>
            <a:ext cx="3333900" cy="12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0" y="1666875"/>
            <a:ext cx="1095300" cy="10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7">
            <a:alphaModFix/>
          </a:blip>
          <a:srcRect b="0" l="209" r="209" t="0"/>
          <a:stretch/>
        </p:blipFill>
        <p:spPr>
          <a:xfrm>
            <a:off x="1428750" y="3429000"/>
            <a:ext cx="2667000" cy="10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8">
            <a:alphaModFix/>
          </a:blip>
          <a:srcRect b="0" l="110" r="110" t="0"/>
          <a:stretch/>
        </p:blipFill>
        <p:spPr>
          <a:xfrm>
            <a:off x="5048250" y="3429000"/>
            <a:ext cx="2857500" cy="8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/>
          <p:nvPr/>
        </p:nvSpPr>
        <p:spPr>
          <a:xfrm>
            <a:off x="4857750" y="-4286250"/>
            <a:ext cx="8572500" cy="8572500"/>
          </a:xfrm>
          <a:prstGeom prst="ellipse">
            <a:avLst/>
          </a:prstGeom>
          <a:solidFill>
            <a:srgbClr val="00E5FF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0" y="1143000"/>
            <a:ext cx="9144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</a:t>
            </a:r>
            <a:endParaRPr b="1" sz="120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8382000" y="4762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endParaRPr b="0" sz="1000">
              <a:solidFill>
                <a:srgbClr val="AAB7C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/>
        </p:nvSpPr>
        <p:spPr>
          <a:xfrm>
            <a:off x="571500" y="381000"/>
            <a:ext cx="476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Бъдещо развитие</a:t>
            </a:r>
            <a:endParaRPr b="1" sz="32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5810250" y="-3333750"/>
            <a:ext cx="6667500" cy="6667500"/>
          </a:xfrm>
          <a:prstGeom prst="ellipse">
            <a:avLst/>
          </a:prstGeom>
          <a:solidFill>
            <a:srgbClr val="00FFD1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8001000" y="4810125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  <a:endParaRPr b="1" sz="900">
              <a:solidFill>
                <a:srgbClr val="AAB7C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571500" y="1333500"/>
            <a:ext cx="1524000" cy="2286000"/>
            <a:chOff x="571500" y="1333500"/>
            <a:chExt cx="1524000" cy="2286000"/>
          </a:xfrm>
        </p:grpSpPr>
        <p:sp>
          <p:nvSpPr>
            <p:cNvPr id="287" name="Google Shape;287;p24"/>
            <p:cNvSpPr/>
            <p:nvPr/>
          </p:nvSpPr>
          <p:spPr>
            <a:xfrm>
              <a:off x="571500" y="1333500"/>
              <a:ext cx="1524000" cy="2286000"/>
            </a:xfrm>
            <a:prstGeom prst="roundRect">
              <a:avLst>
                <a:gd fmla="val 7500" name="adj"/>
              </a:avLst>
            </a:prstGeom>
            <a:solidFill>
              <a:srgbClr val="111E2E"/>
            </a:solidFill>
            <a:ln cap="flat" cmpd="sng" w="9525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4"/>
            <p:cNvSpPr txBox="1"/>
            <p:nvPr/>
          </p:nvSpPr>
          <p:spPr>
            <a:xfrm>
              <a:off x="571500" y="1517269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38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9" name="Google Shape;289;p24"/>
            <p:cNvSpPr txBox="1"/>
            <p:nvPr/>
          </p:nvSpPr>
          <p:spPr>
            <a:xfrm>
              <a:off x="666750" y="1905000"/>
              <a:ext cx="1333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3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Конфигурируеми rendering pipelines</a:t>
              </a:r>
              <a:endParaRPr b="1" sz="120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925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25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Адаптивност към графични стилове</a:t>
              </a:r>
              <a:endParaRPr sz="925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90" name="Google Shape;290;p24"/>
          <p:cNvGrpSpPr/>
          <p:nvPr/>
        </p:nvGrpSpPr>
        <p:grpSpPr>
          <a:xfrm>
            <a:off x="2238375" y="1333500"/>
            <a:ext cx="1524000" cy="2286000"/>
            <a:chOff x="2238375" y="1333500"/>
            <a:chExt cx="1524000" cy="2286000"/>
          </a:xfrm>
        </p:grpSpPr>
        <p:sp>
          <p:nvSpPr>
            <p:cNvPr id="291" name="Google Shape;291;p24"/>
            <p:cNvSpPr/>
            <p:nvPr/>
          </p:nvSpPr>
          <p:spPr>
            <a:xfrm>
              <a:off x="2238375" y="1333500"/>
              <a:ext cx="1524000" cy="2286000"/>
            </a:xfrm>
            <a:prstGeom prst="roundRect">
              <a:avLst>
                <a:gd fmla="val 7500" name="adj"/>
              </a:avLst>
            </a:prstGeom>
            <a:solidFill>
              <a:srgbClr val="111E2E"/>
            </a:solidFill>
            <a:ln cap="flat" cmpd="sng" w="9525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4"/>
            <p:cNvSpPr txBox="1"/>
            <p:nvPr/>
          </p:nvSpPr>
          <p:spPr>
            <a:xfrm>
              <a:off x="2238375" y="1517269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27C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precision_manufacturing</a:t>
              </a:r>
              <a:endParaRPr sz="2380">
                <a:solidFill>
                  <a:srgbClr val="27C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3" name="Google Shape;293;p24"/>
            <p:cNvSpPr txBox="1"/>
            <p:nvPr/>
          </p:nvSpPr>
          <p:spPr>
            <a:xfrm>
              <a:off x="2333625" y="1905000"/>
              <a:ext cx="1333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Physics интеграция</a:t>
              </a:r>
              <a:endParaRPr b="1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Симулация на реални взаимодействия</a:t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94" name="Google Shape;294;p24"/>
          <p:cNvGrpSpPr/>
          <p:nvPr/>
        </p:nvGrpSpPr>
        <p:grpSpPr>
          <a:xfrm>
            <a:off x="3905250" y="1333500"/>
            <a:ext cx="1524000" cy="2286000"/>
            <a:chOff x="3905250" y="1333500"/>
            <a:chExt cx="1524000" cy="2286000"/>
          </a:xfrm>
        </p:grpSpPr>
        <p:sp>
          <p:nvSpPr>
            <p:cNvPr id="295" name="Google Shape;295;p24"/>
            <p:cNvSpPr/>
            <p:nvPr/>
          </p:nvSpPr>
          <p:spPr>
            <a:xfrm>
              <a:off x="3905250" y="1333500"/>
              <a:ext cx="1524000" cy="2286000"/>
            </a:xfrm>
            <a:prstGeom prst="roundRect">
              <a:avLst>
                <a:gd fmla="val 7500" name="adj"/>
              </a:avLst>
            </a:prstGeom>
            <a:solidFill>
              <a:srgbClr val="111E2E"/>
            </a:solidFill>
            <a:ln cap="flat" cmpd="sng" w="9525">
              <a:solidFill>
                <a:srgbClr val="35D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4"/>
            <p:cNvSpPr txBox="1"/>
            <p:nvPr/>
          </p:nvSpPr>
          <p:spPr>
            <a:xfrm>
              <a:off x="3905250" y="1517269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35D6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volume_up</a:t>
              </a:r>
              <a:endParaRPr sz="2380">
                <a:solidFill>
                  <a:srgbClr val="35D6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7" name="Google Shape;297;p24"/>
            <p:cNvSpPr txBox="1"/>
            <p:nvPr/>
          </p:nvSpPr>
          <p:spPr>
            <a:xfrm>
              <a:off x="4000500" y="1905000"/>
              <a:ext cx="1333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Audio интеграция</a:t>
              </a:r>
              <a:endParaRPr b="1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Пространствен звук и ефекти</a:t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98" name="Google Shape;298;p24"/>
          <p:cNvGrpSpPr/>
          <p:nvPr/>
        </p:nvGrpSpPr>
        <p:grpSpPr>
          <a:xfrm>
            <a:off x="5572125" y="1333500"/>
            <a:ext cx="1524000" cy="2286000"/>
            <a:chOff x="5572125" y="1333500"/>
            <a:chExt cx="1524000" cy="2286000"/>
          </a:xfrm>
        </p:grpSpPr>
        <p:sp>
          <p:nvSpPr>
            <p:cNvPr id="299" name="Google Shape;299;p24"/>
            <p:cNvSpPr/>
            <p:nvPr/>
          </p:nvSpPr>
          <p:spPr>
            <a:xfrm>
              <a:off x="5572125" y="1333500"/>
              <a:ext cx="1524000" cy="2286000"/>
            </a:xfrm>
            <a:prstGeom prst="roundRect">
              <a:avLst>
                <a:gd fmla="val 7500" name="adj"/>
              </a:avLst>
            </a:prstGeom>
            <a:solidFill>
              <a:srgbClr val="111E2E"/>
            </a:solidFill>
            <a:ln cap="flat" cmpd="sng" w="9525">
              <a:solidFill>
                <a:srgbClr val="FF9B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5572125" y="1517269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F9B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save</a:t>
              </a:r>
              <a:endParaRPr sz="2380">
                <a:solidFill>
                  <a:srgbClr val="FF9B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1" name="Google Shape;301;p24"/>
            <p:cNvSpPr txBox="1"/>
            <p:nvPr/>
          </p:nvSpPr>
          <p:spPr>
            <a:xfrm>
              <a:off x="5667375" y="1905000"/>
              <a:ext cx="1333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Serialization на сцени и префаби</a:t>
              </a:r>
              <a:endParaRPr b="1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Персистентност на данните</a:t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302" name="Google Shape;302;p24"/>
          <p:cNvGrpSpPr/>
          <p:nvPr/>
        </p:nvGrpSpPr>
        <p:grpSpPr>
          <a:xfrm>
            <a:off x="7239000" y="1333500"/>
            <a:ext cx="1524000" cy="2286000"/>
            <a:chOff x="7239000" y="1333500"/>
            <a:chExt cx="1524000" cy="2286000"/>
          </a:xfrm>
        </p:grpSpPr>
        <p:sp>
          <p:nvSpPr>
            <p:cNvPr id="303" name="Google Shape;303;p24"/>
            <p:cNvSpPr/>
            <p:nvPr/>
          </p:nvSpPr>
          <p:spPr>
            <a:xfrm>
              <a:off x="7239000" y="1333500"/>
              <a:ext cx="1524000" cy="2286000"/>
            </a:xfrm>
            <a:prstGeom prst="roundRect">
              <a:avLst>
                <a:gd fmla="val 7500" name="adj"/>
              </a:avLst>
            </a:prstGeom>
            <a:solidFill>
              <a:srgbClr val="111E2E"/>
            </a:solidFill>
            <a:ln cap="flat" cmpd="sng" w="9525">
              <a:solidFill>
                <a:srgbClr val="27C7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 txBox="1"/>
            <p:nvPr/>
          </p:nvSpPr>
          <p:spPr>
            <a:xfrm>
              <a:off x="7239000" y="1517269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27C7A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endParaRPr sz="2380">
                <a:solidFill>
                  <a:srgbClr val="27C7A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5" name="Google Shape;305;p24"/>
            <p:cNvSpPr txBox="1"/>
            <p:nvPr/>
          </p:nvSpPr>
          <p:spPr>
            <a:xfrm>
              <a:off x="7334250" y="1905000"/>
              <a:ext cx="1333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Scene editor и tooling</a:t>
              </a:r>
              <a:endParaRPr b="1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AAB7C6"/>
                  </a:solidFill>
                  <a:latin typeface="Manrope"/>
                  <a:ea typeface="Manrope"/>
                  <a:cs typeface="Manrope"/>
                  <a:sym typeface="Manrope"/>
                </a:rPr>
                <a:t>Улесняване на работния процес</a:t>
              </a:r>
              <a:endParaRPr sz="1000">
                <a:solidFill>
                  <a:srgbClr val="AAB7C6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306" name="Google Shape;306;p24"/>
          <p:cNvGrpSpPr/>
          <p:nvPr/>
        </p:nvGrpSpPr>
        <p:grpSpPr>
          <a:xfrm>
            <a:off x="571500" y="4000500"/>
            <a:ext cx="8191500" cy="571500"/>
            <a:chOff x="571500" y="4000500"/>
            <a:chExt cx="8191500" cy="571500"/>
          </a:xfrm>
        </p:grpSpPr>
        <p:sp>
          <p:nvSpPr>
            <p:cNvPr id="307" name="Google Shape;307;p24"/>
            <p:cNvSpPr/>
            <p:nvPr/>
          </p:nvSpPr>
          <p:spPr>
            <a:xfrm>
              <a:off x="571500" y="400050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4"/>
            <p:cNvSpPr txBox="1"/>
            <p:nvPr/>
          </p:nvSpPr>
          <p:spPr>
            <a:xfrm>
              <a:off x="571500" y="4000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27C7A7"/>
                  </a:solidFill>
                  <a:latin typeface="Manrope"/>
                  <a:ea typeface="Manrope"/>
                  <a:cs typeface="Manrope"/>
                  <a:sym typeface="Manrope"/>
                </a:rPr>
                <a:t>Текущата архитектура е подготвена за значително бъдещо разширяване.</a:t>
              </a:r>
              <a:endParaRPr b="0" sz="1400">
                <a:solidFill>
                  <a:srgbClr val="27C7A7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4857750" y="-4286250"/>
            <a:ext cx="8572500" cy="8572500"/>
          </a:xfrm>
          <a:prstGeom prst="ellipse">
            <a:avLst/>
          </a:prstGeom>
          <a:solidFill>
            <a:srgbClr val="00E5FF">
              <a:alpha val="4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-2857500" y="2286000"/>
            <a:ext cx="5715000" cy="5715000"/>
          </a:xfrm>
          <a:prstGeom prst="ellipse">
            <a:avLst/>
          </a:prstGeom>
          <a:solidFill>
            <a:srgbClr val="00FFD1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25"/>
          <p:cNvGrpSpPr/>
          <p:nvPr/>
        </p:nvGrpSpPr>
        <p:grpSpPr>
          <a:xfrm>
            <a:off x="762000" y="1333500"/>
            <a:ext cx="7620000" cy="1905000"/>
            <a:chOff x="762000" y="1333500"/>
            <a:chExt cx="7620000" cy="1905000"/>
          </a:xfrm>
        </p:grpSpPr>
        <p:sp>
          <p:nvSpPr>
            <p:cNvPr id="316" name="Google Shape;316;p25"/>
            <p:cNvSpPr txBox="1"/>
            <p:nvPr/>
          </p:nvSpPr>
          <p:spPr>
            <a:xfrm>
              <a:off x="762000" y="1333500"/>
              <a:ext cx="7620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444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Благодаря за вниманието!</a:t>
              </a:r>
              <a:endParaRPr b="1" sz="444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4000500" y="2428875"/>
              <a:ext cx="1143000" cy="28500"/>
            </a:xfrm>
            <a:prstGeom prst="rect">
              <a:avLst/>
            </a:prstGeom>
            <a:solidFill>
              <a:srgbClr val="00E5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 txBox="1"/>
            <p:nvPr/>
          </p:nvSpPr>
          <p:spPr>
            <a:xfrm>
              <a:off x="762000" y="266700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800">
                  <a:solidFill>
                    <a:srgbClr val="00E5FF"/>
                  </a:solidFill>
                  <a:latin typeface="Manrope SemiBold"/>
                  <a:ea typeface="Manrope SemiBold"/>
                  <a:cs typeface="Manrope SemiBold"/>
                  <a:sym typeface="Manrope SemiBold"/>
                </a:rPr>
                <a:t>Въпроси?</a:t>
              </a:r>
              <a:endParaRPr b="0" sz="2800">
                <a:solidFill>
                  <a:srgbClr val="00E5FF"/>
                </a:solidFill>
                <a:latin typeface="Manrope SemiBold"/>
                <a:ea typeface="Manrope SemiBold"/>
                <a:cs typeface="Manrope SemiBold"/>
                <a:sym typeface="Manrope SemiBold"/>
              </a:endParaRPr>
            </a:p>
          </p:txBody>
        </p:sp>
      </p:grpSp>
      <p:sp>
        <p:nvSpPr>
          <p:cNvPr id="319" name="Google Shape;319;p25"/>
          <p:cNvSpPr txBox="1"/>
          <p:nvPr/>
        </p:nvSpPr>
        <p:spPr>
          <a:xfrm>
            <a:off x="8382000" y="47625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B7C6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  <a:endParaRPr sz="1000">
              <a:solidFill>
                <a:srgbClr val="55555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С това завършвам представянето на проекта Boza.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Тази дипломна работа демонстрира възможностите за изграждане на модерна, модулна архитектура на game engine "от нулата".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Надявам се, че техническите детайли около RHI слоя и ECS интеграцията са били интересни за вас.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Благодаря ви за отделеното време и внимание.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Сега съм на разположение за вашите въпроси и коментари.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